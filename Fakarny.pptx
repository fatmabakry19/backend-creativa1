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761"/>
    <a:srgbClr val="C5CAD9"/>
    <a:srgbClr val="C896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92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6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1792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everything in [brackets]. Delete all grey guidance text before you present. 5 slides after this one, 5 minutes in total. Every member speaks.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The story makes people care; the statement makes it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convince. One big number per box. Say what surprised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your full BMC printed. The slide shows only what the audience needs. Profit = Revenues − Expenses (Week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the ask, then stop and say “Thank you — questions?”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A282-23EF-F8F5-61B6-2704D3F49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5B002B-B4F4-E547-77B9-97F361D986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C2F2D7-E4C4-A66B-16AD-5A108D6F50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the ask, then stop and say “Thank you — questions?”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61363-F658-D4F6-4999-A510B90DA9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598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466532" y="1645921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</a:t>
            </a:r>
            <a:r>
              <a:rPr lang="en-US" sz="4400" dirty="0" err="1">
                <a:solidFill>
                  <a:srgbClr val="C8963E"/>
                </a:solidFill>
              </a:rPr>
              <a:t>Fakarny</a:t>
            </a: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66532" y="2834640"/>
            <a:ext cx="8518848" cy="822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dirty="0">
                <a:solidFill>
                  <a:schemeClr val="bg2"/>
                </a:solidFill>
              </a:rPr>
              <a:t>[Organize documents, track bills, and never miss deadlines</a:t>
            </a:r>
            <a:r>
              <a:rPr lang="en-US" sz="2000" dirty="0">
                <a:solidFill>
                  <a:schemeClr val="bg1"/>
                </a:solidFill>
              </a:rPr>
              <a:t>]</a:t>
            </a:r>
            <a:r>
              <a:rPr lang="en-US" sz="2000" dirty="0"/>
              <a:t>.</a:t>
            </a:r>
          </a:p>
        </p:txBody>
      </p:sp>
      <p:sp>
        <p:nvSpPr>
          <p:cNvPr id="6" name="Shape 4"/>
          <p:cNvSpPr/>
          <p:nvPr/>
        </p:nvSpPr>
        <p:spPr>
          <a:xfrm>
            <a:off x="822960" y="3749040"/>
            <a:ext cx="3291840" cy="0"/>
          </a:xfrm>
          <a:prstGeom prst="line">
            <a:avLst/>
          </a:prstGeom>
          <a:noFill/>
          <a:ln w="1905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4023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[</a:t>
            </a:r>
            <a:r>
              <a:rPr lang="en-US" sz="15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Fakarny</a:t>
            </a:r>
            <a:r>
              <a:rPr lang="en-US" sz="15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  ·   [</a:t>
            </a:r>
            <a:r>
              <a:rPr lang="en-US" sz="15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Shahd Osman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 ·  [</a:t>
            </a:r>
            <a:r>
              <a:rPr lang="en-US" sz="15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Fatma Bakry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 ·  [</a:t>
            </a:r>
            <a:r>
              <a:rPr lang="en-US" sz="15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Rahma Karim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 ·  [</a:t>
            </a:r>
            <a:r>
              <a:rPr lang="en-US" sz="15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Menna Hommos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486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 ·  EMPATHY MAPS · PROBLEM STATEMENT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1623" y="1474703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BF6EC"/>
          </a:solidFill>
          <a:ln w="12700">
            <a:solidFill>
              <a:srgbClr val="E8DC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6776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STORY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04944"/>
            <a:ext cx="4833818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dirty="0" err="1"/>
              <a:t>Fakarny</a:t>
            </a:r>
            <a:r>
              <a:rPr lang="en-US" sz="2000" dirty="0"/>
              <a:t> helps users organize important documents and bills in one place and sends reminders for deadlines, preventing missed payments, renewals, and unnecessary stress.</a:t>
            </a:r>
          </a:p>
        </p:txBody>
      </p:sp>
      <p:sp>
        <p:nvSpPr>
          <p:cNvPr id="8" name="Shape 6"/>
          <p:cNvSpPr/>
          <p:nvPr/>
        </p:nvSpPr>
        <p:spPr>
          <a:xfrm>
            <a:off x="6339535" y="1474703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5288" y="1685575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PROBLEM STATEMENT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95288" y="2704944"/>
            <a:ext cx="510508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dirty="0" err="1"/>
              <a:t>Fakarny</a:t>
            </a:r>
            <a:r>
              <a:rPr lang="en-US" sz="2000" dirty="0"/>
              <a:t> helps users securely organize documents and bills in one place, track important dates, and receive timely reminders to avoid missed deadlines, stress, and extra costs.</a:t>
            </a:r>
          </a:p>
          <a:p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486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 ·  MARKET RESEARCH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[</a:t>
            </a:r>
            <a:r>
              <a:rPr lang="en-US" sz="1600" dirty="0"/>
              <a:t>Online Survey</a:t>
            </a:r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  ·   Responses: [15+]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 </a:t>
            </a:r>
            <a:r>
              <a:rPr lang="ar-EG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r>
              <a:rPr lang="en-US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 ]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49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1:</a:t>
            </a:r>
            <a:r>
              <a:rPr lang="en-US" sz="1400" i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of participants struggle to organize important documents</a:t>
            </a:r>
            <a:r>
              <a:rPr lang="en-US" sz="1400" dirty="0">
                <a:solidFill>
                  <a:srgbClr val="C5CAD9"/>
                </a:solidFill>
              </a:rPr>
              <a:t>.</a:t>
            </a:r>
          </a:p>
        </p:txBody>
      </p:sp>
      <p:sp>
        <p:nvSpPr>
          <p:cNvPr id="11" name="Shape 9"/>
          <p:cNvSpPr/>
          <p:nvPr/>
        </p:nvSpPr>
        <p:spPr>
          <a:xfrm>
            <a:off x="4297680" y="19202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21488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57200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 </a:t>
            </a:r>
            <a:r>
              <a:rPr lang="ar-EG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r>
              <a:rPr lang="en-US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 ]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749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2: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sometimes forget bill payment deadlines.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21040" y="21488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 </a:t>
            </a:r>
            <a:r>
              <a:rPr lang="ar-EG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40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 ]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49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3: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prefer receiving automatic reminders.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/>
              <a:t>Our findings helped us focus on document organization, bill tracking, and reminders.</a:t>
            </a: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486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 ·  DECISION MATRIX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OFFER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94560"/>
            <a:ext cx="6217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/>
              <a:t>Our Solution</a:t>
            </a:r>
            <a:endParaRPr lang="ar-EG" sz="1600" dirty="0"/>
          </a:p>
          <a:p>
            <a:endParaRPr lang="en-US" sz="1600" dirty="0"/>
          </a:p>
          <a:p>
            <a:r>
              <a:rPr lang="en-US" sz="1600" dirty="0" err="1"/>
              <a:t>Fakarny</a:t>
            </a:r>
            <a:r>
              <a:rPr lang="en-US" sz="1600" dirty="0"/>
              <a:t> securely organizes documents and bills, tracks important dates, and reminds users of upcoming deadlines.</a:t>
            </a:r>
            <a:endParaRPr lang="ar-EG" sz="1600" dirty="0"/>
          </a:p>
          <a:p>
            <a:endParaRPr lang="en-US" sz="1600" dirty="0"/>
          </a:p>
          <a:p>
            <a:r>
              <a:rPr lang="en-US" sz="1600" dirty="0"/>
              <a:t>How It Works:</a:t>
            </a:r>
            <a:endParaRPr lang="ar-EG" sz="1600" dirty="0"/>
          </a:p>
          <a:p>
            <a:endParaRPr lang="en-US" sz="1600" dirty="0"/>
          </a:p>
          <a:p>
            <a:pPr lvl="0"/>
            <a:r>
              <a:rPr lang="ar-EG" sz="1600" dirty="0"/>
              <a:t>-1</a:t>
            </a:r>
            <a:r>
              <a:rPr lang="en-US" sz="1600" dirty="0"/>
              <a:t>Add documents and bills with their dates.</a:t>
            </a:r>
          </a:p>
          <a:p>
            <a:pPr lvl="0"/>
            <a:r>
              <a:rPr lang="ar-EG" sz="1600" dirty="0"/>
              <a:t>-2</a:t>
            </a:r>
            <a:r>
              <a:rPr lang="en-US" sz="1600" dirty="0"/>
              <a:t>Organize information and calculate reminders.</a:t>
            </a:r>
          </a:p>
          <a:p>
            <a:pPr lvl="0"/>
            <a:r>
              <a:rPr lang="ar-EG" sz="1600" dirty="0"/>
              <a:t>-3</a:t>
            </a:r>
            <a:r>
              <a:rPr lang="en-US" sz="1600" dirty="0"/>
              <a:t>Receive notifications before deadlines</a:t>
            </a:r>
          </a:p>
          <a:p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16952" y="1463040"/>
            <a:ext cx="4023360" cy="4206240"/>
          </a:xfrm>
          <a:prstGeom prst="roundRect">
            <a:avLst>
              <a:gd name="adj" fmla="val 1818"/>
            </a:avLst>
          </a:prstGeom>
          <a:solidFill>
            <a:srgbClr val="FBF6EC"/>
          </a:solidFill>
          <a:ln w="12700">
            <a:solidFill>
              <a:srgbClr val="E8DC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891272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ONE?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2233749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/>
              <a:t>We compared three solutions based on impact, usability, and cost. </a:t>
            </a:r>
            <a:endParaRPr lang="ar-EG" sz="1600" dirty="0"/>
          </a:p>
          <a:p>
            <a:endParaRPr lang="ar-EG" sz="1600" dirty="0"/>
          </a:p>
          <a:p>
            <a:r>
              <a:rPr lang="en-US" sz="1600" dirty="0" err="1"/>
              <a:t>Fakarny</a:t>
            </a:r>
            <a:r>
              <a:rPr lang="en-US" sz="1600" dirty="0"/>
              <a:t> was the best fit because it is practical, affordable, and easy to use, combining document management, bill tracking, and deadline reminders in one place.</a:t>
            </a:r>
          </a:p>
          <a:p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486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 ·  BUSINESS MODEL CANVAS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makes money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Individuals and families who need to manage documents and bills.</a:t>
            </a:r>
            <a:endParaRPr lang="en-US" sz="15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1645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FIND US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Social media, mobile app stores, and word-of-mouth recommendations.</a:t>
            </a:r>
            <a:endParaRPr lang="en-US" sz="15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321040" y="1645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57400"/>
            <a:ext cx="319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Developers, cloud hosting, databases, and notification services.</a:t>
            </a:r>
            <a:endParaRPr lang="en-US" sz="15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1094415" cy="1828800"/>
          </a:xfrm>
          <a:prstGeom prst="rect">
            <a:avLst/>
          </a:prstGeom>
          <a:solidFill>
            <a:srgbClr val="121A3A"/>
          </a:solidFill>
          <a:ln w="12700">
            <a:solidFill>
              <a:srgbClr val="121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LINE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customer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</a:t>
            </a:r>
            <a:r>
              <a:rPr lang="ar-EG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] EGP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389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customer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</a:t>
            </a:r>
            <a:r>
              <a:rPr lang="ar-EG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] EGP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4389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customer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</a:t>
            </a:r>
            <a:r>
              <a:rPr lang="ar-EG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30 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 EGP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486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 ·  MVP or Prototype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Prototype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36792" y="146304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BF6EC"/>
          </a:solidFill>
          <a:ln w="12700">
            <a:solidFill>
              <a:srgbClr val="E8DC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611112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01168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458A6-419E-20C4-8C89-B80C6E48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196D3D-5E5B-C77A-AD69-B85B92BEA186}"/>
              </a:ext>
            </a:extLst>
          </p:cNvPr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8963E"/>
          </a:solidFill>
          <a:ln w="12700">
            <a:solidFill>
              <a:srgbClr val="C896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E1C7EF-3098-D93E-C988-80F0C20ACA79}"/>
              </a:ext>
            </a:extLst>
          </p:cNvPr>
          <p:cNvSpPr txBox="1"/>
          <p:nvPr/>
        </p:nvSpPr>
        <p:spPr>
          <a:xfrm>
            <a:off x="548640" y="5486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 ·  YOUR TEAM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B4FB51-7EAE-9895-30DA-B0BA17921FEF}"/>
              </a:ext>
            </a:extLst>
          </p:cNvPr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 — and what we need</a:t>
            </a:r>
            <a:endParaRPr lang="en-US" sz="3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7493590-9D42-FFD2-12B8-AC64CB6313F3}"/>
              </a:ext>
            </a:extLst>
          </p:cNvPr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7F8FC"/>
          </a:solidFill>
          <a:ln w="12700">
            <a:solidFill>
              <a:srgbClr val="DD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29233B-F2FF-40EB-B74C-FD99678496F9}"/>
              </a:ext>
            </a:extLst>
          </p:cNvPr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CDB3F53-2319-D591-9AC2-173251FA4A38}"/>
              </a:ext>
            </a:extLst>
          </p:cNvPr>
          <p:cNvSpPr txBox="1"/>
          <p:nvPr/>
        </p:nvSpPr>
        <p:spPr>
          <a:xfrm>
            <a:off x="822960" y="201168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role in the project — one strength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role — strength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role — strength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role — strength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F84833A-B920-305C-2D2C-CEBB2A8B2FF3}"/>
              </a:ext>
            </a:extLst>
          </p:cNvPr>
          <p:cNvSpPr/>
          <p:nvPr/>
        </p:nvSpPr>
        <p:spPr>
          <a:xfrm>
            <a:off x="6336792" y="146304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BF6EC"/>
          </a:solidFill>
          <a:ln w="12700">
            <a:solidFill>
              <a:srgbClr val="E8DC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CDBF949-6D7A-9B8A-5B3A-4303079525B4}"/>
              </a:ext>
            </a:extLst>
          </p:cNvPr>
          <p:cNvSpPr txBox="1"/>
          <p:nvPr/>
        </p:nvSpPr>
        <p:spPr>
          <a:xfrm>
            <a:off x="6611112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C017DE6-BC32-51F3-9AC0-D0BB7523BCDE}"/>
              </a:ext>
            </a:extLst>
          </p:cNvPr>
          <p:cNvSpPr txBox="1"/>
          <p:nvPr/>
        </p:nvSpPr>
        <p:spPr>
          <a:xfrm>
            <a:off x="6611112" y="201168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next step, and what do you need for it?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with 20 students? A partner? A small amount of funding?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specific.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28E0F02-D7E9-102F-CE0B-833B4B3791BE}"/>
              </a:ext>
            </a:extLst>
          </p:cNvPr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24411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578</Words>
  <Application>Microsoft Office PowerPoint</Application>
  <PresentationFormat>Widescreen</PresentationFormat>
  <Paragraphs>87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NEW LAP</cp:lastModifiedBy>
  <cp:revision>7</cp:revision>
  <dcterms:created xsi:type="dcterms:W3CDTF">2026-10-17T14:31:14Z</dcterms:created>
  <dcterms:modified xsi:type="dcterms:W3CDTF">2026-10-24T10:45:07Z</dcterms:modified>
</cp:coreProperties>
</file>